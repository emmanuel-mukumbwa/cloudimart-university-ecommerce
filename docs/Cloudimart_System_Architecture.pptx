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4" r:id="rId1"/>
  </p:sldMasterIdLst>
  <p:sldIdLst>
    <p:sldId id="256" r:id="rId2"/>
    <p:sldId id="257" r:id="rId3"/>
    <p:sldId id="258" r:id="rId4"/>
    <p:sldId id="271" r:id="rId5"/>
    <p:sldId id="259" r:id="rId6"/>
    <p:sldId id="260" r:id="rId7"/>
    <p:sldId id="272" r:id="rId8"/>
    <p:sldId id="261" r:id="rId9"/>
    <p:sldId id="273" r:id="rId10"/>
    <p:sldId id="262" r:id="rId11"/>
    <p:sldId id="274" r:id="rId12"/>
    <p:sldId id="265" r:id="rId13"/>
    <p:sldId id="275" r:id="rId14"/>
    <p:sldId id="266" r:id="rId15"/>
    <p:sldId id="267" r:id="rId16"/>
    <p:sldId id="276" r:id="rId17"/>
    <p:sldId id="270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1326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Freeform 28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lumMod val="75000"/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987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60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814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736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817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624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7851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847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867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41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290223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8271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514548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87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9056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455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cxnSp>
          <p:nvCxnSpPr>
            <p:cNvPr id="7" name="Straight Connector 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Freeform 8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2527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Emmanuel-Mukumbwa/cloudimart-university-ecommerce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768626"/>
            <a:ext cx="5826719" cy="3472070"/>
          </a:xfrm>
        </p:spPr>
        <p:txBody>
          <a:bodyPr/>
          <a:lstStyle/>
          <a:p>
            <a:pPr algn="l"/>
            <a:r>
              <a:rPr dirty="0" err="1" smtClean="0"/>
              <a:t>Cloudimart</a:t>
            </a:r>
            <a:r>
              <a:rPr lang="en-US" dirty="0" smtClean="0"/>
              <a:t> Prototype:</a:t>
            </a:r>
            <a:r>
              <a:rPr dirty="0" smtClean="0"/>
              <a:t> </a:t>
            </a:r>
            <a:r>
              <a:rPr dirty="0"/>
              <a:t>System Architecture </a:t>
            </a:r>
            <a:r>
              <a:rPr lang="en-US" dirty="0" smtClean="0"/>
              <a:t>and</a:t>
            </a:r>
            <a:r>
              <a:rPr dirty="0" smtClean="0"/>
              <a:t> </a:t>
            </a:r>
            <a:r>
              <a:rPr dirty="0"/>
              <a:t>Design Decisions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342382"/>
            <a:ext cx="5826719" cy="2363218"/>
          </a:xfrm>
        </p:spPr>
        <p:txBody>
          <a:bodyPr>
            <a:noAutofit/>
          </a:bodyPr>
          <a:lstStyle/>
          <a:p>
            <a:pPr algn="l"/>
            <a:r>
              <a:rPr lang="en-US" sz="1400" dirty="0"/>
              <a:t>Emmanuel </a:t>
            </a:r>
            <a:r>
              <a:rPr lang="en-US" sz="1400" dirty="0" err="1"/>
              <a:t>Mukumbwa</a:t>
            </a:r>
            <a:endParaRPr lang="en-US" sz="1400" dirty="0"/>
          </a:p>
          <a:p>
            <a:pPr algn="l"/>
            <a:r>
              <a:rPr lang="en-US" sz="1400" dirty="0"/>
              <a:t>emukumbwa2419@gmail.com</a:t>
            </a:r>
          </a:p>
          <a:p>
            <a:pPr algn="l"/>
            <a:r>
              <a:rPr lang="en-US" sz="1400" dirty="0" err="1"/>
              <a:t>GitHub</a:t>
            </a:r>
            <a:r>
              <a:rPr lang="en-US" sz="1400" dirty="0"/>
              <a:t>: </a:t>
            </a:r>
            <a:r>
              <a:rPr lang="en-US" sz="1400" dirty="0" smtClean="0">
                <a:hlinkClick r:id="rId2"/>
              </a:rPr>
              <a:t>https://github.com/Emmanuel-Mukumbwa/cloudimart-university-ecommerce</a:t>
            </a:r>
            <a:r>
              <a:rPr lang="en-US" sz="1400" dirty="0" smtClean="0"/>
              <a:t> </a:t>
            </a:r>
            <a:endParaRPr lang="en-US" sz="1400" dirty="0"/>
          </a:p>
          <a:p>
            <a:pPr algn="l"/>
            <a:r>
              <a:rPr sz="1400" dirty="0" smtClean="0"/>
              <a:t>Technical </a:t>
            </a:r>
            <a:r>
              <a:rPr sz="1400" dirty="0"/>
              <a:t>Interview Presentation</a:t>
            </a:r>
          </a:p>
          <a:p>
            <a:pPr algn="l"/>
            <a:r>
              <a:rPr sz="1400" dirty="0" smtClean="0"/>
              <a:t>February</a:t>
            </a:r>
            <a:r>
              <a:rPr lang="en-US" sz="1400" dirty="0" smtClean="0"/>
              <a:t> 22,</a:t>
            </a:r>
            <a:r>
              <a:rPr sz="1400" dirty="0" smtClean="0"/>
              <a:t> 2026</a:t>
            </a:r>
            <a:r>
              <a:rPr lang="en-US" sz="1400" dirty="0" smtClean="0"/>
              <a:t>.</a:t>
            </a:r>
            <a:endParaRPr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l">
              <a:defRPr sz="1400"/>
            </a:pPr>
            <a:r>
              <a:rPr sz="2800" dirty="0" err="1" smtClean="0"/>
              <a:t>Cloudimart</a:t>
            </a:r>
            <a:r>
              <a:rPr sz="2800" dirty="0" smtClean="0"/>
              <a:t> </a:t>
            </a:r>
            <a:r>
              <a:rPr sz="2800" dirty="0"/>
              <a:t>uses a decoupled architecture: a </a:t>
            </a:r>
            <a:r>
              <a:rPr sz="2800" dirty="0" err="1"/>
              <a:t>Laravel</a:t>
            </a:r>
            <a:r>
              <a:rPr sz="2800" dirty="0"/>
              <a:t> backend serving a REST API and a Next.js frontend consuming that API. This separation allows independent scaling and follows modern best practices. The prototype focuses on core e‑commerce flows with location‑restricted checkout for the </a:t>
            </a:r>
            <a:r>
              <a:rPr sz="2800" dirty="0" err="1"/>
              <a:t>Mzuzu</a:t>
            </a:r>
            <a:r>
              <a:rPr sz="2800" dirty="0"/>
              <a:t> University community."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Backend: </a:t>
            </a:r>
            <a:r>
              <a:rPr dirty="0" err="1"/>
              <a:t>Laravel</a:t>
            </a:r>
            <a:r>
              <a:rPr dirty="0"/>
              <a:t> (PHP) – MVC, Eloquent ORM</a:t>
            </a:r>
          </a:p>
          <a:p>
            <a:r>
              <a:rPr dirty="0"/>
              <a:t>Frontend: Next.js (React, </a:t>
            </a:r>
            <a:r>
              <a:rPr dirty="0" err="1"/>
              <a:t>TypeScript</a:t>
            </a:r>
            <a:r>
              <a:rPr dirty="0"/>
              <a:t>, </a:t>
            </a:r>
            <a:r>
              <a:rPr lang="en-US" dirty="0" smtClean="0"/>
              <a:t>Bootstrap</a:t>
            </a:r>
            <a:r>
              <a:rPr dirty="0" smtClean="0"/>
              <a:t> </a:t>
            </a:r>
            <a:r>
              <a:rPr dirty="0"/>
              <a:t>CSS)</a:t>
            </a:r>
          </a:p>
          <a:p>
            <a:r>
              <a:rPr dirty="0"/>
              <a:t>Database: MySQL – normalized schema with foreign keys</a:t>
            </a:r>
          </a:p>
          <a:p>
            <a:r>
              <a:rPr dirty="0"/>
              <a:t>Authentication: </a:t>
            </a:r>
            <a:r>
              <a:rPr dirty="0" err="1"/>
              <a:t>Laravel</a:t>
            </a:r>
            <a:r>
              <a:rPr dirty="0"/>
              <a:t> Sanctum (token‑based, stateless)</a:t>
            </a:r>
          </a:p>
          <a:p>
            <a:r>
              <a:rPr dirty="0"/>
              <a:t>Payments: Integrated with </a:t>
            </a:r>
            <a:r>
              <a:rPr dirty="0" err="1"/>
              <a:t>PayChangu</a:t>
            </a:r>
            <a:r>
              <a:rPr dirty="0"/>
              <a:t> (online) + manual proof upload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12040"/>
          </a:xfrm>
        </p:spPr>
        <p:txBody>
          <a:bodyPr/>
          <a:lstStyle/>
          <a:p>
            <a:r>
              <a:rPr lang="en-US" dirty="0"/>
              <a:t>Architecture Overview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881" y="835370"/>
            <a:ext cx="4660509" cy="5774082"/>
          </a:xfrm>
        </p:spPr>
      </p:pic>
    </p:spTree>
    <p:extLst>
      <p:ext uri="{BB962C8B-B14F-4D97-AF65-F5344CB8AC3E}">
        <p14:creationId xmlns:p14="http://schemas.microsoft.com/office/powerpoint/2010/main" val="4095567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4070" y="1600200"/>
            <a:ext cx="8229600" cy="4525963"/>
          </a:xfrm>
        </p:spPr>
        <p:txBody>
          <a:bodyPr>
            <a:normAutofit/>
          </a:bodyPr>
          <a:lstStyle/>
          <a:p>
            <a:endParaRPr dirty="0"/>
          </a:p>
          <a:p>
            <a:r>
              <a:rPr dirty="0"/>
              <a:t>Frontend communicates with backend via </a:t>
            </a:r>
            <a:r>
              <a:rPr dirty="0" err="1"/>
              <a:t>RESTful</a:t>
            </a:r>
            <a:r>
              <a:rPr dirty="0"/>
              <a:t> API.</a:t>
            </a:r>
          </a:p>
          <a:p>
            <a:r>
              <a:rPr dirty="0"/>
              <a:t>Backend is stateless – each request carries an authentication token.</a:t>
            </a:r>
          </a:p>
          <a:p>
            <a:r>
              <a:rPr dirty="0"/>
              <a:t>Business logic is encapsulated in Service classes (</a:t>
            </a:r>
            <a:r>
              <a:rPr dirty="0" err="1"/>
              <a:t>LocationService</a:t>
            </a:r>
            <a:r>
              <a:rPr dirty="0"/>
              <a:t>, </a:t>
            </a:r>
            <a:r>
              <a:rPr dirty="0" err="1"/>
              <a:t>OrderService</a:t>
            </a:r>
            <a:r>
              <a:rPr dirty="0"/>
              <a:t>).</a:t>
            </a:r>
          </a:p>
          <a:p>
            <a:r>
              <a:rPr dirty="0"/>
              <a:t>Controllers are thin; they orchestrate requests and return JSON responses.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Core </a:t>
            </a:r>
            <a:r>
              <a:rPr dirty="0" smtClean="0"/>
              <a:t>Features</a:t>
            </a:r>
            <a:r>
              <a:rPr lang="en-US" dirty="0" smtClean="0"/>
              <a:t>:</a:t>
            </a:r>
            <a:r>
              <a:rPr dirty="0" smtClean="0"/>
              <a:t> </a:t>
            </a:r>
            <a:r>
              <a:rPr dirty="0"/>
              <a:t>MVP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Product Catalog (Stationery &amp; Dairy categories)</a:t>
            </a:r>
          </a:p>
          <a:p>
            <a:r>
              <a:t>Shopping Cart with persistent user cart</a:t>
            </a:r>
          </a:p>
          <a:p>
            <a:r>
              <a:t>Location‑Based Checkout (GPS validation against seeded zones)</a:t>
            </a:r>
          </a:p>
          <a:p>
            <a:r>
              <a:t>Order Processing with unique human‑readable order ID</a:t>
            </a:r>
          </a:p>
          <a:p>
            <a:r>
              <a:t>Delivery Verification (Order ID + phone number)</a:t>
            </a:r>
          </a:p>
          <a:p>
            <a:r>
              <a:t>Admin Tools (CRUD for products, categories, locations)</a:t>
            </a:r>
          </a:p>
          <a:p>
            <a:r>
              <a:t>Payment Handling (PayChangu + manual proof upload)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697913" cy="6770688"/>
          </a:xfrm>
        </p:spPr>
      </p:pic>
    </p:spTree>
    <p:extLst>
      <p:ext uri="{BB962C8B-B14F-4D97-AF65-F5344CB8AC3E}">
        <p14:creationId xmlns:p14="http://schemas.microsoft.com/office/powerpoint/2010/main" val="1414825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Location </a:t>
            </a:r>
            <a:r>
              <a:rPr dirty="0" smtClean="0"/>
              <a:t>Validation </a:t>
            </a:r>
            <a:r>
              <a:rPr lang="en-US" dirty="0" smtClean="0"/>
              <a:t>and </a:t>
            </a:r>
            <a:r>
              <a:rPr dirty="0" smtClean="0"/>
              <a:t>How </a:t>
            </a:r>
            <a:r>
              <a:rPr dirty="0"/>
              <a:t>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Radius‑based </a:t>
            </a:r>
            <a:r>
              <a:rPr dirty="0" err="1"/>
              <a:t>geofencing</a:t>
            </a:r>
            <a:r>
              <a:rPr dirty="0"/>
              <a:t> using </a:t>
            </a:r>
            <a:r>
              <a:rPr dirty="0" err="1"/>
              <a:t>Haversine</a:t>
            </a:r>
            <a:r>
              <a:rPr dirty="0"/>
              <a:t> formula</a:t>
            </a:r>
          </a:p>
          <a:p>
            <a:r>
              <a:rPr dirty="0"/>
              <a:t>Each delivery zone defined by a center point + radius (1.0–1.8 km)</a:t>
            </a:r>
          </a:p>
          <a:p>
            <a:r>
              <a:rPr dirty="0"/>
              <a:t>User's GPS compared to all active zones; if within any radius </a:t>
            </a:r>
            <a:r>
              <a:rPr lang="en-US" dirty="0" smtClean="0"/>
              <a:t>then </a:t>
            </a:r>
            <a:r>
              <a:rPr dirty="0" smtClean="0"/>
              <a:t>checkout </a:t>
            </a:r>
            <a:r>
              <a:rPr dirty="0"/>
              <a:t>allowed</a:t>
            </a:r>
          </a:p>
          <a:p>
            <a:r>
              <a:rPr dirty="0"/>
              <a:t>Server‑side validation ensures rules cannot be bypassed</a:t>
            </a:r>
          </a:p>
          <a:p>
            <a:r>
              <a:rPr dirty="0"/>
              <a:t>Coordinates collected manually via Google Maps pin‑drops and seeded in database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400" y="579438"/>
            <a:ext cx="8737600" cy="5622925"/>
          </a:xfrm>
        </p:spPr>
      </p:pic>
    </p:spTree>
    <p:extLst>
      <p:ext uri="{BB962C8B-B14F-4D97-AF65-F5344CB8AC3E}">
        <p14:creationId xmlns:p14="http://schemas.microsoft.com/office/powerpoint/2010/main" val="323182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Checkout Flow with Location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dirty="0"/>
          </a:p>
          <a:p>
            <a:pPr marL="0" indent="0">
              <a:buNone/>
            </a:pPr>
            <a:r>
              <a:rPr dirty="0" smtClean="0"/>
              <a:t>1</a:t>
            </a:r>
            <a:r>
              <a:rPr dirty="0"/>
              <a:t>. Browser sends GPS coordinates to backend.</a:t>
            </a:r>
          </a:p>
          <a:p>
            <a:pPr marL="0" indent="0">
              <a:buNone/>
            </a:pPr>
            <a:r>
              <a:rPr dirty="0"/>
              <a:t>2. Backend validates against seeded zones using </a:t>
            </a:r>
            <a:r>
              <a:rPr dirty="0" err="1"/>
              <a:t>LocationService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3. If valid, payment is initiated (</a:t>
            </a:r>
            <a:r>
              <a:rPr dirty="0" err="1"/>
              <a:t>PayChangu</a:t>
            </a:r>
            <a:r>
              <a:rPr dirty="0"/>
              <a:t> or manual proof).</a:t>
            </a:r>
          </a:p>
          <a:p>
            <a:pPr marL="0" indent="0">
              <a:buNone/>
            </a:pPr>
            <a:r>
              <a:rPr dirty="0"/>
              <a:t>4. After payment confirmation, order is created with stock locking.</a:t>
            </a:r>
          </a:p>
          <a:p>
            <a:pPr marL="0" indent="0">
              <a:buNone/>
            </a:pPr>
            <a:r>
              <a:rPr dirty="0"/>
              <a:t>5. Delivery record with verification code is generated.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13" y="331788"/>
            <a:ext cx="9069387" cy="6188075"/>
          </a:xfrm>
        </p:spPr>
      </p:pic>
    </p:spTree>
    <p:extLst>
      <p:ext uri="{BB962C8B-B14F-4D97-AF65-F5344CB8AC3E}">
        <p14:creationId xmlns:p14="http://schemas.microsoft.com/office/powerpoint/2010/main" val="1593706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Key tables: users, locations, products, categories, carts, </a:t>
            </a:r>
            <a:r>
              <a:rPr dirty="0" err="1"/>
              <a:t>cart_items</a:t>
            </a:r>
            <a:r>
              <a:rPr dirty="0"/>
              <a:t>, payments, orders, </a:t>
            </a:r>
            <a:r>
              <a:rPr dirty="0" err="1"/>
              <a:t>order_items</a:t>
            </a:r>
            <a:r>
              <a:rPr dirty="0"/>
              <a:t>, deliveries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5888"/>
            <a:ext cx="7751763" cy="6731000"/>
          </a:xfrm>
        </p:spPr>
      </p:pic>
    </p:spTree>
    <p:extLst>
      <p:ext uri="{BB962C8B-B14F-4D97-AF65-F5344CB8AC3E}">
        <p14:creationId xmlns:p14="http://schemas.microsoft.com/office/powerpoint/2010/main" val="1021224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Design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Backend‑first development: Core business rules enforced server‑side</a:t>
            </a:r>
          </a:p>
          <a:p>
            <a:r>
              <a:t>Radius‑based geofencing: Simple, maintainable, accurate for campus</a:t>
            </a:r>
          </a:p>
          <a:p>
            <a:r>
              <a:t>Stateless API with Sanctum tokens: Enables horizontal scaling</a:t>
            </a:r>
          </a:p>
          <a:p>
            <a:r>
              <a:t>Human‑readable order ID: Easy for customers and support</a:t>
            </a:r>
          </a:p>
          <a:p>
            <a:r>
              <a:t>Cart snapshot in payments: Prevents price/stock changes after payment</a:t>
            </a:r>
          </a:p>
          <a:p>
            <a:r>
              <a:t>Row locking for stock: Prevents overselling under concurrent requests</a:t>
            </a:r>
          </a:p>
          <a:p>
            <a:r>
              <a:t>Server‑trusted location verification: Reduces friction for returning users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Info‑Driven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Brand alignment: Analyzed live </a:t>
            </a:r>
            <a:r>
              <a:rPr dirty="0" err="1"/>
              <a:t>Cloudimart</a:t>
            </a:r>
            <a:r>
              <a:rPr dirty="0"/>
              <a:t> site for colors, navigation, terminology</a:t>
            </a:r>
          </a:p>
          <a:p>
            <a:r>
              <a:rPr dirty="0"/>
              <a:t>User expectations: Researched </a:t>
            </a:r>
            <a:r>
              <a:rPr dirty="0" err="1"/>
              <a:t>Jumia</a:t>
            </a:r>
            <a:r>
              <a:rPr dirty="0"/>
              <a:t>/Amazon for checkout and cart patterns</a:t>
            </a:r>
          </a:p>
          <a:p>
            <a:r>
              <a:rPr dirty="0" smtClean="0"/>
              <a:t>Cart </a:t>
            </a:r>
            <a:r>
              <a:rPr dirty="0"/>
              <a:t>behavior: Single persistent cart per user (merged on login)</a:t>
            </a:r>
          </a:p>
          <a:p>
            <a:r>
              <a:rPr dirty="0"/>
              <a:t>Stock awareness: Add-to-cart disabled when insufficient stock with clear messaging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Cloudimart</a:t>
            </a:r>
            <a:r>
              <a:rPr lang="en-US" dirty="0"/>
              <a:t> prototype meets all core requirements: a product catalog, shopping cart, location‑restricted checkout, unique order ID generation, delivery verification, and admin controls. It is built with a clean, scalable architecture and designed with real user expectations and brand identity in mind. The system is ready for a pilot and can be extended with additional features as the business grows.</a:t>
            </a:r>
          </a:p>
        </p:txBody>
      </p:sp>
    </p:spTree>
    <p:extLst>
      <p:ext uri="{BB962C8B-B14F-4D97-AF65-F5344CB8AC3E}">
        <p14:creationId xmlns:p14="http://schemas.microsoft.com/office/powerpoint/2010/main" val="21569013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795588" y="3008313"/>
            <a:ext cx="6348412" cy="1320800"/>
          </a:xfrm>
        </p:spPr>
        <p:txBody>
          <a:bodyPr/>
          <a:lstStyle/>
          <a:p>
            <a:r>
              <a:rPr dirty="0"/>
              <a:t>Thank You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31</TotalTime>
  <Words>571</Words>
  <Application>Microsoft Office PowerPoint</Application>
  <PresentationFormat>On-screen Show (4:3)</PresentationFormat>
  <Paragraphs>61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Trebuchet MS</vt:lpstr>
      <vt:lpstr>Wingdings 3</vt:lpstr>
      <vt:lpstr>Facet</vt:lpstr>
      <vt:lpstr>Cloudimart Prototype: System Architecture and Design Decisions</vt:lpstr>
      <vt:lpstr>Introduction</vt:lpstr>
      <vt:lpstr>Technology Stack</vt:lpstr>
      <vt:lpstr>Architecture Overview</vt:lpstr>
      <vt:lpstr>Architecture Overview</vt:lpstr>
      <vt:lpstr>Core Features: MVP Scope</vt:lpstr>
      <vt:lpstr>PowerPoint Presentation</vt:lpstr>
      <vt:lpstr>Location Validation and How It Works</vt:lpstr>
      <vt:lpstr>PowerPoint Presentation</vt:lpstr>
      <vt:lpstr>Checkout Flow with Location Validation</vt:lpstr>
      <vt:lpstr>PowerPoint Presentation</vt:lpstr>
      <vt:lpstr>Database Design</vt:lpstr>
      <vt:lpstr>PowerPoint Presentation</vt:lpstr>
      <vt:lpstr>Key Design Decisions</vt:lpstr>
      <vt:lpstr>Info‑Driven Design</vt:lpstr>
      <vt:lpstr>Conclusion</vt:lpstr>
      <vt:lpstr>Thank You 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Cloudimart: System Architecture &amp; Design Decisions</dc:title>
  <dc:subject/>
  <dc:creator/>
  <cp:keywords/>
  <dc:description>generated using python-pptx</dc:description>
  <cp:lastModifiedBy>Microsoft account</cp:lastModifiedBy>
  <cp:revision>22</cp:revision>
  <dcterms:created xsi:type="dcterms:W3CDTF">2013-01-27T09:14:16Z</dcterms:created>
  <dcterms:modified xsi:type="dcterms:W3CDTF">2026-02-20T09:12:03Z</dcterms:modified>
  <cp:category/>
</cp:coreProperties>
</file>