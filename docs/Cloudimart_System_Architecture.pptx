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94" r:id="rId1"/>
  </p:sldMasterIdLst>
  <p:sldIdLst>
    <p:sldId id="256" r:id="rId2"/>
    <p:sldId id="257" r:id="rId3"/>
    <p:sldId id="258" r:id="rId4"/>
    <p:sldId id="271" r:id="rId5"/>
    <p:sldId id="259" r:id="rId6"/>
    <p:sldId id="260" r:id="rId7"/>
    <p:sldId id="272" r:id="rId8"/>
    <p:sldId id="261" r:id="rId9"/>
    <p:sldId id="273" r:id="rId10"/>
    <p:sldId id="262" r:id="rId11"/>
    <p:sldId id="274" r:id="rId12"/>
    <p:sldId id="265" r:id="rId13"/>
    <p:sldId id="275" r:id="rId14"/>
    <p:sldId id="266" r:id="rId15"/>
    <p:sldId id="267" r:id="rId16"/>
    <p:sldId id="276" r:id="rId17"/>
    <p:sldId id="270" r:id="rId1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2" d="100"/>
          <a:sy n="72" d="100"/>
        </p:scale>
        <p:origin x="1326" y="5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-8466" y="-8468"/>
            <a:ext cx="9169804" cy="6874935"/>
            <a:chOff x="-8466" y="-8468"/>
            <a:chExt cx="9169804" cy="6874935"/>
          </a:xfrm>
        </p:grpSpPr>
        <p:cxnSp>
          <p:nvCxnSpPr>
            <p:cNvPr id="17" name="Straight Connector 16"/>
            <p:cNvCxnSpPr/>
            <p:nvPr/>
          </p:nvCxnSpPr>
          <p:spPr>
            <a:xfrm flipV="1">
              <a:off x="5130830" y="4175605"/>
              <a:ext cx="4022475" cy="2682396"/>
            </a:xfrm>
            <a:prstGeom prst="line">
              <a:avLst/>
            </a:prstGeom>
            <a:ln w="9525">
              <a:solidFill>
                <a:schemeClr val="bg1">
                  <a:lumMod val="85000"/>
                  <a:lumOff val="1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/>
            <p:cNvCxnSpPr/>
            <p:nvPr/>
          </p:nvCxnSpPr>
          <p:spPr>
            <a:xfrm>
              <a:off x="7042707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85000"/>
                  <a:lumOff val="1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Freeform 18"/>
            <p:cNvSpPr/>
            <p:nvPr/>
          </p:nvSpPr>
          <p:spPr>
            <a:xfrm>
              <a:off x="6891896" y="1"/>
              <a:ext cx="2269442" cy="6866466"/>
            </a:xfrm>
            <a:custGeom>
              <a:avLst/>
              <a:gdLst/>
              <a:ahLst/>
              <a:cxnLst/>
              <a:rect l="l" t="t" r="r" b="b"/>
              <a:pathLst>
                <a:path w="2269442" h="6866466">
                  <a:moveTo>
                    <a:pt x="2023534" y="0"/>
                  </a:moveTo>
                  <a:lnTo>
                    <a:pt x="0" y="6858000"/>
                  </a:lnTo>
                  <a:lnTo>
                    <a:pt x="2269067" y="6866466"/>
                  </a:lnTo>
                  <a:cubicBezTo>
                    <a:pt x="2271889" y="4580466"/>
                    <a:pt x="2257778" y="2294466"/>
                    <a:pt x="2260600" y="8466"/>
                  </a:cubicBezTo>
                  <a:lnTo>
                    <a:pt x="2023534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Freeform 19"/>
            <p:cNvSpPr/>
            <p:nvPr/>
          </p:nvSpPr>
          <p:spPr>
            <a:xfrm>
              <a:off x="7205158" y="-8467"/>
              <a:ext cx="1948147" cy="6866467"/>
            </a:xfrm>
            <a:custGeom>
              <a:avLst/>
              <a:gdLst/>
              <a:ahLst/>
              <a:cxnLst/>
              <a:rect l="l" t="t" r="r" b="b"/>
              <a:pathLst>
                <a:path w="1948147" h="6866467">
                  <a:moveTo>
                    <a:pt x="0" y="0"/>
                  </a:moveTo>
                  <a:lnTo>
                    <a:pt x="1202267" y="6866467"/>
                  </a:lnTo>
                  <a:lnTo>
                    <a:pt x="1947333" y="6866467"/>
                  </a:lnTo>
                  <a:cubicBezTo>
                    <a:pt x="1944511" y="4577645"/>
                    <a:pt x="1950155" y="2288822"/>
                    <a:pt x="1947333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Freeform 20"/>
            <p:cNvSpPr/>
            <p:nvPr/>
          </p:nvSpPr>
          <p:spPr>
            <a:xfrm>
              <a:off x="6637896" y="3920066"/>
              <a:ext cx="2513565" cy="2937933"/>
            </a:xfrm>
            <a:custGeom>
              <a:avLst/>
              <a:gdLst/>
              <a:ahLst/>
              <a:cxnLst/>
              <a:rect l="l" t="t" r="r" b="b"/>
              <a:pathLst>
                <a:path w="3259667" h="3810000">
                  <a:moveTo>
                    <a:pt x="0" y="3810000"/>
                  </a:moveTo>
                  <a:lnTo>
                    <a:pt x="3251200" y="0"/>
                  </a:lnTo>
                  <a:cubicBezTo>
                    <a:pt x="3254022" y="1270000"/>
                    <a:pt x="3256845" y="2540000"/>
                    <a:pt x="3259667" y="3810000"/>
                  </a:cubicBezTo>
                  <a:lnTo>
                    <a:pt x="0" y="3810000"/>
                  </a:lnTo>
                  <a:close/>
                </a:path>
              </a:pathLst>
            </a:cu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Freeform 21"/>
            <p:cNvSpPr/>
            <p:nvPr/>
          </p:nvSpPr>
          <p:spPr>
            <a:xfrm>
              <a:off x="7010429" y="-8467"/>
              <a:ext cx="2142876" cy="6866467"/>
            </a:xfrm>
            <a:custGeom>
              <a:avLst/>
              <a:gdLst/>
              <a:ahLst/>
              <a:cxnLst/>
              <a:rect l="l" t="t" r="r" b="b"/>
              <a:pathLst>
                <a:path w="2853267" h="6866467">
                  <a:moveTo>
                    <a:pt x="0" y="0"/>
                  </a:moveTo>
                  <a:lnTo>
                    <a:pt x="2472267" y="6866467"/>
                  </a:lnTo>
                  <a:lnTo>
                    <a:pt x="2853267" y="6858000"/>
                  </a:lnTo>
                  <a:lnTo>
                    <a:pt x="28532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Freeform 22"/>
            <p:cNvSpPr/>
            <p:nvPr/>
          </p:nvSpPr>
          <p:spPr>
            <a:xfrm>
              <a:off x="8295776" y="-8467"/>
              <a:ext cx="857530" cy="6866467"/>
            </a:xfrm>
            <a:custGeom>
              <a:avLst/>
              <a:gdLst/>
              <a:ahLst/>
              <a:cxnLst/>
              <a:rect l="l" t="t" r="r" b="b"/>
              <a:pathLst>
                <a:path w="1286933" h="6866467">
                  <a:moveTo>
                    <a:pt x="1016000" y="0"/>
                  </a:moveTo>
                  <a:lnTo>
                    <a:pt x="0" y="6866467"/>
                  </a:lnTo>
                  <a:lnTo>
                    <a:pt x="1286933" y="6866467"/>
                  </a:lnTo>
                  <a:cubicBezTo>
                    <a:pt x="1284111" y="4577645"/>
                    <a:pt x="1281288" y="2288822"/>
                    <a:pt x="1278466" y="0"/>
                  </a:cubicBezTo>
                  <a:lnTo>
                    <a:pt x="1016000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Freeform 23"/>
            <p:cNvSpPr/>
            <p:nvPr/>
          </p:nvSpPr>
          <p:spPr>
            <a:xfrm>
              <a:off x="8077231" y="-8468"/>
              <a:ext cx="1066770" cy="6866467"/>
            </a:xfrm>
            <a:custGeom>
              <a:avLst/>
              <a:gdLst/>
              <a:ahLst/>
              <a:cxnLst/>
              <a:rect l="l" t="t" r="r" b="b"/>
              <a:pathLst>
                <a:path w="1270244" h="6866467">
                  <a:moveTo>
                    <a:pt x="0" y="0"/>
                  </a:moveTo>
                  <a:lnTo>
                    <a:pt x="1117600" y="6866467"/>
                  </a:lnTo>
                  <a:lnTo>
                    <a:pt x="1270000" y="6866467"/>
                  </a:lnTo>
                  <a:cubicBezTo>
                    <a:pt x="1272822" y="4574822"/>
                    <a:pt x="1250245" y="2291645"/>
                    <a:pt x="1253067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Freeform 24"/>
            <p:cNvSpPr/>
            <p:nvPr/>
          </p:nvSpPr>
          <p:spPr>
            <a:xfrm>
              <a:off x="8060297" y="4893733"/>
              <a:ext cx="1094086" cy="1964267"/>
            </a:xfrm>
            <a:custGeom>
              <a:avLst/>
              <a:gdLst/>
              <a:ahLst/>
              <a:cxnLst/>
              <a:rect l="l" t="t" r="r" b="b"/>
              <a:pathLst>
                <a:path w="1820333" h="3268133">
                  <a:moveTo>
                    <a:pt x="0" y="3268133"/>
                  </a:moveTo>
                  <a:lnTo>
                    <a:pt x="1811866" y="0"/>
                  </a:lnTo>
                  <a:cubicBezTo>
                    <a:pt x="1814688" y="1086555"/>
                    <a:pt x="1817511" y="2173111"/>
                    <a:pt x="1820333" y="3259666"/>
                  </a:cubicBezTo>
                  <a:lnTo>
                    <a:pt x="0" y="3268133"/>
                  </a:lnTo>
                  <a:close/>
                </a:path>
              </a:pathLst>
            </a:cu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Freeform 28"/>
            <p:cNvSpPr/>
            <p:nvPr/>
          </p:nvSpPr>
          <p:spPr>
            <a:xfrm>
              <a:off x="-8466" y="-8468"/>
              <a:ext cx="863600" cy="5698067"/>
            </a:xfrm>
            <a:custGeom>
              <a:avLst/>
              <a:gdLst/>
              <a:ahLst/>
              <a:cxnLst/>
              <a:rect l="l" t="t" r="r" b="b"/>
              <a:pathLst>
                <a:path w="863600" h="5698067">
                  <a:moveTo>
                    <a:pt x="0" y="8467"/>
                  </a:moveTo>
                  <a:lnTo>
                    <a:pt x="863600" y="0"/>
                  </a:lnTo>
                  <a:lnTo>
                    <a:pt x="863600" y="16934"/>
                  </a:lnTo>
                  <a:lnTo>
                    <a:pt x="0" y="5698067"/>
                  </a:lnTo>
                  <a:lnTo>
                    <a:pt x="0" y="8467"/>
                  </a:lnTo>
                  <a:close/>
                </a:path>
              </a:pathLst>
            </a:custGeom>
            <a:solidFill>
              <a:schemeClr val="accent1">
                <a:lumMod val="75000"/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0595" y="2404534"/>
            <a:ext cx="5826719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30595" y="4050834"/>
            <a:ext cx="5826719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498774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66010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98" y="2700868"/>
            <a:ext cx="6347715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98" y="4527448"/>
            <a:ext cx="6347715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581414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609600"/>
            <a:ext cx="6347714" cy="13208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2160589"/>
            <a:ext cx="3088109" cy="3880772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869204" y="2160590"/>
            <a:ext cx="3088110" cy="388077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27364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99" y="609600"/>
            <a:ext cx="6347713" cy="132080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99" y="2160983"/>
            <a:ext cx="3090672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99" y="2737246"/>
            <a:ext cx="3090672" cy="3304117"/>
          </a:xfrm>
        </p:spPr>
        <p:txBody>
          <a:bodyPr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66640" y="2160983"/>
            <a:ext cx="3090672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866640" y="2737246"/>
            <a:ext cx="3090672" cy="3304117"/>
          </a:xfrm>
        </p:spPr>
        <p:txBody>
          <a:bodyPr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081762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99" y="609600"/>
            <a:ext cx="6347714" cy="13208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662450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878517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99" y="1498604"/>
            <a:ext cx="2790182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1275" y="514925"/>
            <a:ext cx="3386037" cy="5526437"/>
          </a:xfrm>
        </p:spPr>
        <p:txBody>
          <a:bodyPr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99" y="2777069"/>
            <a:ext cx="2790182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28473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99" y="4800600"/>
            <a:ext cx="6347714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09599" y="609600"/>
            <a:ext cx="6347714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99" y="5367338"/>
            <a:ext cx="6347714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58673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609600"/>
            <a:ext cx="6347714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4470400"/>
            <a:ext cx="6347714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54109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74885" y="609600"/>
            <a:ext cx="6072182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101074" y="3632200"/>
            <a:ext cx="541980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98" y="4470400"/>
            <a:ext cx="6347715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482711" y="790378"/>
            <a:ext cx="45731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47699" y="2886556"/>
            <a:ext cx="45731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62902236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98" y="1931988"/>
            <a:ext cx="6347715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98" y="4527448"/>
            <a:ext cx="6347715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382719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74885" y="609600"/>
            <a:ext cx="6072182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09597" y="4013200"/>
            <a:ext cx="6347716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98" y="4527448"/>
            <a:ext cx="6347715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482711" y="790378"/>
            <a:ext cx="45731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47699" y="2886556"/>
            <a:ext cx="45731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95145483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15848" y="609600"/>
            <a:ext cx="6341465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09597" y="4013200"/>
            <a:ext cx="6347716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98" y="4527448"/>
            <a:ext cx="6347715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3876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990566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977312" y="609600"/>
            <a:ext cx="978812" cy="5251451"/>
          </a:xfrm>
        </p:spPr>
        <p:txBody>
          <a:bodyPr vert="eaVert" anchor="ctr"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99" y="609600"/>
            <a:ext cx="5195026" cy="5251451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245533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roup 16"/>
          <p:cNvGrpSpPr/>
          <p:nvPr/>
        </p:nvGrpSpPr>
        <p:grpSpPr>
          <a:xfrm>
            <a:off x="-8467" y="-8468"/>
            <a:ext cx="9169805" cy="6874935"/>
            <a:chOff x="-8467" y="-8468"/>
            <a:chExt cx="9169805" cy="6874935"/>
          </a:xfrm>
        </p:grpSpPr>
        <p:cxnSp>
          <p:nvCxnSpPr>
            <p:cNvPr id="7" name="Straight Connector 6"/>
            <p:cNvCxnSpPr/>
            <p:nvPr/>
          </p:nvCxnSpPr>
          <p:spPr>
            <a:xfrm flipV="1">
              <a:off x="5130830" y="4175605"/>
              <a:ext cx="4022475" cy="2682396"/>
            </a:xfrm>
            <a:prstGeom prst="line">
              <a:avLst/>
            </a:prstGeom>
            <a:ln w="9525">
              <a:solidFill>
                <a:schemeClr val="bg1">
                  <a:lumMod val="85000"/>
                  <a:lumOff val="1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/>
            <p:cNvCxnSpPr/>
            <p:nvPr/>
          </p:nvCxnSpPr>
          <p:spPr>
            <a:xfrm>
              <a:off x="7042707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85000"/>
                  <a:lumOff val="1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Freeform 8"/>
            <p:cNvSpPr/>
            <p:nvPr/>
          </p:nvSpPr>
          <p:spPr>
            <a:xfrm>
              <a:off x="-8467" y="4013200"/>
              <a:ext cx="457200" cy="2853267"/>
            </a:xfrm>
            <a:custGeom>
              <a:avLst/>
              <a:gdLst/>
              <a:ahLst/>
              <a:cxnLst/>
              <a:rect l="l" t="t" r="r" b="b"/>
              <a:pathLst>
                <a:path w="457200" h="2853267">
                  <a:moveTo>
                    <a:pt x="0" y="0"/>
                  </a:moveTo>
                  <a:lnTo>
                    <a:pt x="457200" y="2853267"/>
                  </a:lnTo>
                  <a:lnTo>
                    <a:pt x="0" y="2844800"/>
                  </a:lnTo>
                  <a:cubicBezTo>
                    <a:pt x="2822" y="1905000"/>
                    <a:pt x="5645" y="965200"/>
                    <a:pt x="0" y="0"/>
                  </a:cubicBezTo>
                  <a:close/>
                </a:path>
              </a:pathLst>
            </a:cu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0" name="Freeform 9"/>
            <p:cNvSpPr/>
            <p:nvPr/>
          </p:nvSpPr>
          <p:spPr>
            <a:xfrm>
              <a:off x="6891896" y="1"/>
              <a:ext cx="2269442" cy="6866466"/>
            </a:xfrm>
            <a:custGeom>
              <a:avLst/>
              <a:gdLst/>
              <a:ahLst/>
              <a:cxnLst/>
              <a:rect l="l" t="t" r="r" b="b"/>
              <a:pathLst>
                <a:path w="2269442" h="6866466">
                  <a:moveTo>
                    <a:pt x="2023534" y="0"/>
                  </a:moveTo>
                  <a:lnTo>
                    <a:pt x="0" y="6858000"/>
                  </a:lnTo>
                  <a:lnTo>
                    <a:pt x="2269067" y="6866466"/>
                  </a:lnTo>
                  <a:cubicBezTo>
                    <a:pt x="2271889" y="4580466"/>
                    <a:pt x="2257778" y="2294466"/>
                    <a:pt x="2260600" y="8466"/>
                  </a:cubicBezTo>
                  <a:lnTo>
                    <a:pt x="2023534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Freeform 10"/>
            <p:cNvSpPr/>
            <p:nvPr/>
          </p:nvSpPr>
          <p:spPr>
            <a:xfrm>
              <a:off x="7205158" y="-8467"/>
              <a:ext cx="1948147" cy="6866467"/>
            </a:xfrm>
            <a:custGeom>
              <a:avLst/>
              <a:gdLst/>
              <a:ahLst/>
              <a:cxnLst/>
              <a:rect l="l" t="t" r="r" b="b"/>
              <a:pathLst>
                <a:path w="1948147" h="6866467">
                  <a:moveTo>
                    <a:pt x="0" y="0"/>
                  </a:moveTo>
                  <a:lnTo>
                    <a:pt x="1202267" y="6866467"/>
                  </a:lnTo>
                  <a:lnTo>
                    <a:pt x="1947333" y="6866467"/>
                  </a:lnTo>
                  <a:cubicBezTo>
                    <a:pt x="1944511" y="4577645"/>
                    <a:pt x="1950155" y="2288822"/>
                    <a:pt x="1947333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2" name="Freeform 11"/>
            <p:cNvSpPr/>
            <p:nvPr/>
          </p:nvSpPr>
          <p:spPr>
            <a:xfrm>
              <a:off x="6637896" y="3920066"/>
              <a:ext cx="2513565" cy="2937933"/>
            </a:xfrm>
            <a:custGeom>
              <a:avLst/>
              <a:gdLst/>
              <a:ahLst/>
              <a:cxnLst/>
              <a:rect l="l" t="t" r="r" b="b"/>
              <a:pathLst>
                <a:path w="3259667" h="3810000">
                  <a:moveTo>
                    <a:pt x="0" y="3810000"/>
                  </a:moveTo>
                  <a:lnTo>
                    <a:pt x="3251200" y="0"/>
                  </a:lnTo>
                  <a:cubicBezTo>
                    <a:pt x="3254022" y="1270000"/>
                    <a:pt x="3256845" y="2540000"/>
                    <a:pt x="3259667" y="3810000"/>
                  </a:cubicBezTo>
                  <a:lnTo>
                    <a:pt x="0" y="3810000"/>
                  </a:lnTo>
                  <a:close/>
                </a:path>
              </a:pathLst>
            </a:cu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3" name="Freeform 12"/>
            <p:cNvSpPr/>
            <p:nvPr/>
          </p:nvSpPr>
          <p:spPr>
            <a:xfrm>
              <a:off x="7010429" y="-8467"/>
              <a:ext cx="2142876" cy="6866467"/>
            </a:xfrm>
            <a:custGeom>
              <a:avLst/>
              <a:gdLst/>
              <a:ahLst/>
              <a:cxnLst/>
              <a:rect l="l" t="t" r="r" b="b"/>
              <a:pathLst>
                <a:path w="2853267" h="6866467">
                  <a:moveTo>
                    <a:pt x="0" y="0"/>
                  </a:moveTo>
                  <a:lnTo>
                    <a:pt x="2472267" y="6866467"/>
                  </a:lnTo>
                  <a:lnTo>
                    <a:pt x="2853267" y="6858000"/>
                  </a:lnTo>
                  <a:lnTo>
                    <a:pt x="28532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Freeform 13"/>
            <p:cNvSpPr/>
            <p:nvPr/>
          </p:nvSpPr>
          <p:spPr>
            <a:xfrm>
              <a:off x="8295776" y="-8467"/>
              <a:ext cx="857530" cy="6866467"/>
            </a:xfrm>
            <a:custGeom>
              <a:avLst/>
              <a:gdLst/>
              <a:ahLst/>
              <a:cxnLst/>
              <a:rect l="l" t="t" r="r" b="b"/>
              <a:pathLst>
                <a:path w="1286933" h="6866467">
                  <a:moveTo>
                    <a:pt x="1016000" y="0"/>
                  </a:moveTo>
                  <a:lnTo>
                    <a:pt x="0" y="6866467"/>
                  </a:lnTo>
                  <a:lnTo>
                    <a:pt x="1286933" y="6866467"/>
                  </a:lnTo>
                  <a:cubicBezTo>
                    <a:pt x="1284111" y="4577645"/>
                    <a:pt x="1281288" y="2288822"/>
                    <a:pt x="1278466" y="0"/>
                  </a:cubicBezTo>
                  <a:lnTo>
                    <a:pt x="1016000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Freeform 14"/>
            <p:cNvSpPr/>
            <p:nvPr/>
          </p:nvSpPr>
          <p:spPr>
            <a:xfrm>
              <a:off x="8077231" y="-8468"/>
              <a:ext cx="1066770" cy="6866467"/>
            </a:xfrm>
            <a:custGeom>
              <a:avLst/>
              <a:gdLst/>
              <a:ahLst/>
              <a:cxnLst/>
              <a:rect l="l" t="t" r="r" b="b"/>
              <a:pathLst>
                <a:path w="1270244" h="6866467">
                  <a:moveTo>
                    <a:pt x="0" y="0"/>
                  </a:moveTo>
                  <a:lnTo>
                    <a:pt x="1117600" y="6866467"/>
                  </a:lnTo>
                  <a:lnTo>
                    <a:pt x="1270000" y="6866467"/>
                  </a:lnTo>
                  <a:cubicBezTo>
                    <a:pt x="1272822" y="4574822"/>
                    <a:pt x="1250245" y="2291645"/>
                    <a:pt x="1253067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Freeform 15"/>
            <p:cNvSpPr/>
            <p:nvPr/>
          </p:nvSpPr>
          <p:spPr>
            <a:xfrm>
              <a:off x="8060297" y="4893733"/>
              <a:ext cx="1094086" cy="1964267"/>
            </a:xfrm>
            <a:custGeom>
              <a:avLst/>
              <a:gdLst/>
              <a:ahLst/>
              <a:cxnLst/>
              <a:rect l="l" t="t" r="r" b="b"/>
              <a:pathLst>
                <a:path w="1820333" h="3268133">
                  <a:moveTo>
                    <a:pt x="0" y="3268133"/>
                  </a:moveTo>
                  <a:lnTo>
                    <a:pt x="1811866" y="0"/>
                  </a:lnTo>
                  <a:cubicBezTo>
                    <a:pt x="1814688" y="1086555"/>
                    <a:pt x="1817511" y="2173111"/>
                    <a:pt x="1820333" y="3259666"/>
                  </a:cubicBezTo>
                  <a:lnTo>
                    <a:pt x="0" y="3268133"/>
                  </a:lnTo>
                  <a:close/>
                </a:path>
              </a:pathLst>
            </a:cu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99" y="609600"/>
            <a:ext cx="6347713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99" y="2160590"/>
            <a:ext cx="6347714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405258" y="6041363"/>
            <a:ext cx="68413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2/21/2026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09599" y="6041363"/>
            <a:ext cx="462297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44676" y="6041363"/>
            <a:ext cx="51263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5252799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95" r:id="rId1"/>
    <p:sldLayoutId id="2147483696" r:id="rId2"/>
    <p:sldLayoutId id="2147483697" r:id="rId3"/>
    <p:sldLayoutId id="2147483698" r:id="rId4"/>
    <p:sldLayoutId id="2147483699" r:id="rId5"/>
    <p:sldLayoutId id="2147483700" r:id="rId6"/>
    <p:sldLayoutId id="2147483701" r:id="rId7"/>
    <p:sldLayoutId id="2147483702" r:id="rId8"/>
    <p:sldLayoutId id="2147483703" r:id="rId9"/>
    <p:sldLayoutId id="2147483704" r:id="rId10"/>
    <p:sldLayoutId id="2147483705" r:id="rId11"/>
    <p:sldLayoutId id="2147483706" r:id="rId12"/>
    <p:sldLayoutId id="2147483707" r:id="rId13"/>
    <p:sldLayoutId id="2147483708" r:id="rId14"/>
    <p:sldLayoutId id="2147483709" r:id="rId15"/>
    <p:sldLayoutId id="2147483710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Emmanuel-Mukumbwa/cloudimart-university-ecommerce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0595" y="768626"/>
            <a:ext cx="5826719" cy="3472070"/>
          </a:xfrm>
        </p:spPr>
        <p:txBody>
          <a:bodyPr/>
          <a:lstStyle/>
          <a:p>
            <a:pPr algn="l"/>
            <a:r>
              <a:rPr dirty="0" err="1" smtClean="0"/>
              <a:t>Cloudimart</a:t>
            </a:r>
            <a:r>
              <a:rPr lang="en-US" dirty="0" smtClean="0"/>
              <a:t> Prototype:</a:t>
            </a:r>
            <a:r>
              <a:rPr dirty="0" smtClean="0"/>
              <a:t> </a:t>
            </a:r>
            <a:r>
              <a:rPr dirty="0"/>
              <a:t>System Architecture </a:t>
            </a:r>
            <a:r>
              <a:rPr lang="en-US" dirty="0" smtClean="0"/>
              <a:t>and</a:t>
            </a:r>
            <a:r>
              <a:rPr dirty="0" smtClean="0"/>
              <a:t> </a:t>
            </a:r>
            <a:r>
              <a:rPr dirty="0"/>
              <a:t>Design Decisions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30595" y="4342382"/>
            <a:ext cx="5826719" cy="2363218"/>
          </a:xfrm>
        </p:spPr>
        <p:txBody>
          <a:bodyPr>
            <a:noAutofit/>
          </a:bodyPr>
          <a:lstStyle/>
          <a:p>
            <a:pPr algn="l"/>
            <a:r>
              <a:rPr lang="en-US" sz="1400" dirty="0"/>
              <a:t>Emmanuel </a:t>
            </a:r>
            <a:r>
              <a:rPr lang="en-US" sz="1400" dirty="0" err="1"/>
              <a:t>Mukumbwa</a:t>
            </a:r>
            <a:endParaRPr lang="en-US" sz="1400" dirty="0"/>
          </a:p>
          <a:p>
            <a:pPr algn="l"/>
            <a:r>
              <a:rPr lang="en-US" sz="1400" dirty="0"/>
              <a:t>emukumbwa2419@gmail.com</a:t>
            </a:r>
          </a:p>
          <a:p>
            <a:pPr algn="l"/>
            <a:r>
              <a:rPr lang="en-US" sz="1400" dirty="0" err="1"/>
              <a:t>GitHub</a:t>
            </a:r>
            <a:r>
              <a:rPr lang="en-US" sz="1400" dirty="0"/>
              <a:t>: </a:t>
            </a:r>
            <a:r>
              <a:rPr lang="en-US" sz="1400" dirty="0" smtClean="0">
                <a:hlinkClick r:id="rId2"/>
              </a:rPr>
              <a:t>https://github.com/Emmanuel-Mukumbwa/cloudimart-university-ecommerce</a:t>
            </a:r>
            <a:r>
              <a:rPr lang="en-US" sz="1400" dirty="0" smtClean="0"/>
              <a:t> </a:t>
            </a:r>
            <a:endParaRPr lang="en-US" sz="1400" dirty="0"/>
          </a:p>
          <a:p>
            <a:pPr algn="l"/>
            <a:r>
              <a:rPr sz="1400" dirty="0" smtClean="0"/>
              <a:t>Technical </a:t>
            </a:r>
            <a:r>
              <a:rPr sz="1400" dirty="0"/>
              <a:t>Interview Presentation</a:t>
            </a:r>
          </a:p>
          <a:p>
            <a:pPr algn="l"/>
            <a:r>
              <a:rPr sz="1400" dirty="0" smtClean="0"/>
              <a:t>February</a:t>
            </a:r>
            <a:r>
              <a:rPr lang="en-US" sz="1400" dirty="0" smtClean="0"/>
              <a:t> 22,</a:t>
            </a:r>
            <a:r>
              <a:rPr sz="1400" dirty="0" smtClean="0"/>
              <a:t> 2026</a:t>
            </a:r>
            <a:r>
              <a:rPr lang="en-US" sz="1400" dirty="0" smtClean="0"/>
              <a:t>.</a:t>
            </a:r>
            <a:endParaRPr sz="14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Introduction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algn="l">
              <a:defRPr sz="1400"/>
            </a:pPr>
            <a:r>
              <a:rPr sz="2800" dirty="0" err="1" smtClean="0"/>
              <a:t>Cloudimart</a:t>
            </a:r>
            <a:r>
              <a:rPr sz="2800" dirty="0" smtClean="0"/>
              <a:t> </a:t>
            </a:r>
            <a:r>
              <a:rPr sz="2800" dirty="0"/>
              <a:t>uses a decoupled architecture: a </a:t>
            </a:r>
            <a:r>
              <a:rPr sz="2800" dirty="0" err="1"/>
              <a:t>Laravel</a:t>
            </a:r>
            <a:r>
              <a:rPr sz="2800" dirty="0"/>
              <a:t> backend serving a REST API and a Next.js frontend consuming that API. This separation allows independent scaling and follows modern best practices. The prototype focuses on core e‑commerce flows with location‑restricted checkout for the </a:t>
            </a:r>
            <a:r>
              <a:rPr sz="2800" dirty="0" err="1"/>
              <a:t>Mzuzu</a:t>
            </a:r>
            <a:r>
              <a:rPr sz="2800" dirty="0"/>
              <a:t> University community."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Technology Stack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dirty="0"/>
              <a:t>Backend: </a:t>
            </a:r>
            <a:r>
              <a:rPr dirty="0" err="1"/>
              <a:t>Laravel</a:t>
            </a:r>
            <a:r>
              <a:rPr dirty="0"/>
              <a:t> (PHP) – MVC, Eloquent ORM</a:t>
            </a:r>
          </a:p>
          <a:p>
            <a:r>
              <a:rPr dirty="0"/>
              <a:t>Frontend: Next.js (React, </a:t>
            </a:r>
            <a:r>
              <a:rPr dirty="0" err="1"/>
              <a:t>TypeScript</a:t>
            </a:r>
            <a:r>
              <a:rPr dirty="0"/>
              <a:t>, </a:t>
            </a:r>
            <a:r>
              <a:rPr lang="en-US" dirty="0" smtClean="0"/>
              <a:t>Bootstrap</a:t>
            </a:r>
            <a:r>
              <a:rPr dirty="0" smtClean="0"/>
              <a:t> </a:t>
            </a:r>
            <a:r>
              <a:rPr dirty="0"/>
              <a:t>CSS)</a:t>
            </a:r>
          </a:p>
          <a:p>
            <a:r>
              <a:rPr dirty="0"/>
              <a:t>Database: MySQL – normalized schema with foreign keys</a:t>
            </a:r>
          </a:p>
          <a:p>
            <a:r>
              <a:rPr dirty="0"/>
              <a:t>Authentication: </a:t>
            </a:r>
            <a:r>
              <a:rPr dirty="0" err="1"/>
              <a:t>Laravel</a:t>
            </a:r>
            <a:r>
              <a:rPr dirty="0"/>
              <a:t> Sanctum (token‑based, stateless)</a:t>
            </a:r>
          </a:p>
          <a:p>
            <a:r>
              <a:rPr dirty="0"/>
              <a:t>Payments: Integrated with </a:t>
            </a:r>
            <a:r>
              <a:rPr dirty="0" err="1"/>
              <a:t>PayChangu</a:t>
            </a:r>
            <a:r>
              <a:rPr dirty="0"/>
              <a:t> (online) + manual proof upload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812040"/>
          </a:xfrm>
        </p:spPr>
        <p:txBody>
          <a:bodyPr/>
          <a:lstStyle/>
          <a:p>
            <a:r>
              <a:rPr lang="en-US" dirty="0"/>
              <a:t>Architecture Overview</a:t>
            </a:r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2881" y="835370"/>
            <a:ext cx="4660509" cy="5774082"/>
          </a:xfrm>
        </p:spPr>
      </p:pic>
    </p:spTree>
    <p:extLst>
      <p:ext uri="{BB962C8B-B14F-4D97-AF65-F5344CB8AC3E}">
        <p14:creationId xmlns:p14="http://schemas.microsoft.com/office/powerpoint/2010/main" val="409556705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Architecture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4070" y="1600200"/>
            <a:ext cx="8229600" cy="4525963"/>
          </a:xfrm>
        </p:spPr>
        <p:txBody>
          <a:bodyPr>
            <a:normAutofit/>
          </a:bodyPr>
          <a:lstStyle/>
          <a:p>
            <a:endParaRPr dirty="0"/>
          </a:p>
          <a:p>
            <a:r>
              <a:rPr dirty="0"/>
              <a:t>Frontend communicates with backend via </a:t>
            </a:r>
            <a:r>
              <a:rPr dirty="0" err="1"/>
              <a:t>RESTful</a:t>
            </a:r>
            <a:r>
              <a:rPr dirty="0"/>
              <a:t> API.</a:t>
            </a:r>
          </a:p>
          <a:p>
            <a:r>
              <a:rPr dirty="0"/>
              <a:t>Backend is stateless – each request carries an authentication token.</a:t>
            </a:r>
          </a:p>
          <a:p>
            <a:r>
              <a:rPr dirty="0"/>
              <a:t>Business logic is encapsulated in Service classes (</a:t>
            </a:r>
            <a:r>
              <a:rPr dirty="0" err="1"/>
              <a:t>LocationService</a:t>
            </a:r>
            <a:r>
              <a:rPr dirty="0"/>
              <a:t>, </a:t>
            </a:r>
            <a:r>
              <a:rPr dirty="0" err="1"/>
              <a:t>OrderService</a:t>
            </a:r>
            <a:r>
              <a:rPr dirty="0"/>
              <a:t>).</a:t>
            </a:r>
          </a:p>
          <a:p>
            <a:r>
              <a:rPr dirty="0"/>
              <a:t>Controllers are thin; they orchestrate requests and return JSON responses.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Core </a:t>
            </a:r>
            <a:r>
              <a:rPr dirty="0" smtClean="0"/>
              <a:t>Features</a:t>
            </a:r>
            <a:r>
              <a:rPr lang="en-US" dirty="0" smtClean="0"/>
              <a:t>:</a:t>
            </a:r>
            <a:r>
              <a:rPr dirty="0" smtClean="0"/>
              <a:t> </a:t>
            </a:r>
            <a:r>
              <a:rPr dirty="0"/>
              <a:t>MVP 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t>Product Catalog (Stationery &amp; Dairy categories)</a:t>
            </a:r>
          </a:p>
          <a:p>
            <a:r>
              <a:t>Shopping Cart with persistent user cart</a:t>
            </a:r>
          </a:p>
          <a:p>
            <a:r>
              <a:t>Location‑Based Checkout (GPS validation against seeded zones)</a:t>
            </a:r>
          </a:p>
          <a:p>
            <a:r>
              <a:t>Order Processing with unique human‑readable order ID</a:t>
            </a:r>
          </a:p>
          <a:p>
            <a:r>
              <a:t>Delivery Verification (Order ID + phone number)</a:t>
            </a:r>
          </a:p>
          <a:p>
            <a:r>
              <a:t>Admin Tools (CRUD for products, categories, locations)</a:t>
            </a:r>
          </a:p>
          <a:p>
            <a:r>
              <a:t>Payment Handling (PayChangu + manual proof upload)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6275" y="265043"/>
            <a:ext cx="7791450" cy="63477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482583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dirty="0"/>
              <a:t>Location </a:t>
            </a:r>
            <a:r>
              <a:rPr dirty="0" smtClean="0"/>
              <a:t>Validation </a:t>
            </a:r>
            <a:r>
              <a:rPr lang="en-US" dirty="0" smtClean="0"/>
              <a:t>and </a:t>
            </a:r>
            <a:r>
              <a:rPr dirty="0" smtClean="0"/>
              <a:t>How </a:t>
            </a:r>
            <a:r>
              <a:rPr dirty="0"/>
              <a:t>It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dirty="0"/>
              <a:t>Radius‑based </a:t>
            </a:r>
            <a:r>
              <a:rPr dirty="0" err="1"/>
              <a:t>geofencing</a:t>
            </a:r>
            <a:r>
              <a:rPr dirty="0"/>
              <a:t> using </a:t>
            </a:r>
            <a:r>
              <a:rPr dirty="0" err="1"/>
              <a:t>Haversine</a:t>
            </a:r>
            <a:r>
              <a:rPr dirty="0"/>
              <a:t> formula</a:t>
            </a:r>
          </a:p>
          <a:p>
            <a:r>
              <a:rPr dirty="0"/>
              <a:t>Each delivery zone defined by a center point + radius (1.0–1.8 km)</a:t>
            </a:r>
          </a:p>
          <a:p>
            <a:r>
              <a:rPr dirty="0"/>
              <a:t>User's GPS compared to all active zones; if within any radius </a:t>
            </a:r>
            <a:r>
              <a:rPr lang="en-US" dirty="0" smtClean="0"/>
              <a:t>then </a:t>
            </a:r>
            <a:r>
              <a:rPr dirty="0" smtClean="0"/>
              <a:t>checkout </a:t>
            </a:r>
            <a:r>
              <a:rPr dirty="0"/>
              <a:t>allowed</a:t>
            </a:r>
          </a:p>
          <a:p>
            <a:r>
              <a:rPr dirty="0"/>
              <a:t>Server‑side validation ensures rules cannot be bypassed</a:t>
            </a:r>
          </a:p>
          <a:p>
            <a:r>
              <a:rPr dirty="0"/>
              <a:t>Coordinates collected manually via Google Maps pin‑drops and seeded in database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/>
          <p:cNvPicPr>
            <a:picLocks noGrp="1" noChangeAspect="1"/>
          </p:cNvPicPr>
          <p:nvPr>
            <p:ph idx="4294967295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6400" y="579438"/>
            <a:ext cx="8737600" cy="5622925"/>
          </a:xfrm>
        </p:spPr>
      </p:pic>
    </p:spTree>
    <p:extLst>
      <p:ext uri="{BB962C8B-B14F-4D97-AF65-F5344CB8AC3E}">
        <p14:creationId xmlns:p14="http://schemas.microsoft.com/office/powerpoint/2010/main" val="32318251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t>Checkout Flow with Location Validation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endParaRPr dirty="0"/>
          </a:p>
          <a:p>
            <a:pPr marL="0" indent="0">
              <a:buNone/>
            </a:pPr>
            <a:r>
              <a:rPr dirty="0" smtClean="0"/>
              <a:t>1</a:t>
            </a:r>
            <a:r>
              <a:rPr dirty="0"/>
              <a:t>. Browser sends GPS coordinates to backend.</a:t>
            </a:r>
          </a:p>
          <a:p>
            <a:pPr marL="0" indent="0">
              <a:buNone/>
            </a:pPr>
            <a:r>
              <a:rPr dirty="0"/>
              <a:t>2. Backend validates against seeded zones using </a:t>
            </a:r>
            <a:r>
              <a:rPr dirty="0" err="1"/>
              <a:t>LocationService</a:t>
            </a:r>
            <a:r>
              <a:rPr dirty="0"/>
              <a:t>.</a:t>
            </a:r>
          </a:p>
          <a:p>
            <a:pPr marL="0" indent="0">
              <a:buNone/>
            </a:pPr>
            <a:r>
              <a:rPr dirty="0"/>
              <a:t>3. If valid, payment is initiated (</a:t>
            </a:r>
            <a:r>
              <a:rPr dirty="0" err="1"/>
              <a:t>PayChangu</a:t>
            </a:r>
            <a:r>
              <a:rPr dirty="0"/>
              <a:t> or manual proof).</a:t>
            </a:r>
          </a:p>
          <a:p>
            <a:pPr marL="0" indent="0">
              <a:buNone/>
            </a:pPr>
            <a:r>
              <a:rPr dirty="0"/>
              <a:t>4. After payment confirmation, order is created with stock locking.</a:t>
            </a:r>
          </a:p>
          <a:p>
            <a:pPr marL="0" indent="0">
              <a:buNone/>
            </a:pPr>
            <a:r>
              <a:rPr dirty="0"/>
              <a:t>5. Delivery record with verification code is generated.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/>
          <p:cNvPicPr>
            <a:picLocks noGrp="1" noChangeAspect="1"/>
          </p:cNvPicPr>
          <p:nvPr>
            <p:ph idx="4294967295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613" y="331788"/>
            <a:ext cx="9069387" cy="6188075"/>
          </a:xfrm>
        </p:spPr>
      </p:pic>
    </p:spTree>
    <p:extLst>
      <p:ext uri="{BB962C8B-B14F-4D97-AF65-F5344CB8AC3E}">
        <p14:creationId xmlns:p14="http://schemas.microsoft.com/office/powerpoint/2010/main" val="159370616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Database Design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dirty="0"/>
          </a:p>
          <a:p>
            <a:r>
              <a:rPr dirty="0"/>
              <a:t>Key tables: users, locations, products, categories, carts, </a:t>
            </a:r>
            <a:r>
              <a:rPr dirty="0" err="1"/>
              <a:t>cart_items</a:t>
            </a:r>
            <a:r>
              <a:rPr dirty="0"/>
              <a:t>, payments, orders, </a:t>
            </a:r>
            <a:r>
              <a:rPr dirty="0" err="1"/>
              <a:t>order_items</a:t>
            </a:r>
            <a:r>
              <a:rPr dirty="0"/>
              <a:t>, deliveries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/>
          <p:cNvPicPr>
            <a:picLocks noGrp="1" noChangeAspect="1"/>
          </p:cNvPicPr>
          <p:nvPr>
            <p:ph idx="4294967295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15888"/>
            <a:ext cx="7751763" cy="6731000"/>
          </a:xfrm>
        </p:spPr>
      </p:pic>
    </p:spTree>
    <p:extLst>
      <p:ext uri="{BB962C8B-B14F-4D97-AF65-F5344CB8AC3E}">
        <p14:creationId xmlns:p14="http://schemas.microsoft.com/office/powerpoint/2010/main" val="102122436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Key Design Decisions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t>Backend‑first development: Core business rules enforced server‑side</a:t>
            </a:r>
          </a:p>
          <a:p>
            <a:r>
              <a:t>Radius‑based geofencing: Simple, maintainable, accurate for campus</a:t>
            </a:r>
          </a:p>
          <a:p>
            <a:r>
              <a:t>Stateless API with Sanctum tokens: Enables horizontal scaling</a:t>
            </a:r>
          </a:p>
          <a:p>
            <a:r>
              <a:t>Human‑readable order ID: Easy for customers and support</a:t>
            </a:r>
          </a:p>
          <a:p>
            <a:r>
              <a:t>Cart snapshot in payments: Prevents price/stock changes after payment</a:t>
            </a:r>
          </a:p>
          <a:p>
            <a:r>
              <a:t>Row locking for stock: Prevents overselling under concurrent requests</a:t>
            </a:r>
          </a:p>
          <a:p>
            <a:r>
              <a:t>Server‑trusted location verification: Reduces friction for returning users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Info‑Driven Design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dirty="0"/>
              <a:t>Brand alignment: Analyzed live </a:t>
            </a:r>
            <a:r>
              <a:rPr dirty="0" err="1"/>
              <a:t>Cloudimart</a:t>
            </a:r>
            <a:r>
              <a:rPr dirty="0"/>
              <a:t> site for colors, navigation, terminology</a:t>
            </a:r>
          </a:p>
          <a:p>
            <a:r>
              <a:rPr dirty="0"/>
              <a:t>User expectations: Researched </a:t>
            </a:r>
            <a:r>
              <a:rPr dirty="0" err="1"/>
              <a:t>Jumia</a:t>
            </a:r>
            <a:r>
              <a:rPr dirty="0"/>
              <a:t>/Amazon for checkout and cart patterns</a:t>
            </a:r>
          </a:p>
          <a:p>
            <a:r>
              <a:rPr dirty="0" smtClean="0"/>
              <a:t>Cart </a:t>
            </a:r>
            <a:r>
              <a:rPr dirty="0"/>
              <a:t>behavior: Single persistent cart per user (merged on login)</a:t>
            </a:r>
          </a:p>
          <a:p>
            <a:r>
              <a:rPr dirty="0"/>
              <a:t>Stock awareness: Add-to-cart disabled when insufficient stock with clear messaging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Conclusion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</a:t>
            </a:r>
            <a:r>
              <a:rPr lang="en-US" dirty="0" err="1"/>
              <a:t>Cloudimart</a:t>
            </a:r>
            <a:r>
              <a:rPr lang="en-US" dirty="0"/>
              <a:t> prototype meets all core requirements: a product catalog, shopping cart, location‑restricted checkout, unique order ID generation, delivery verification, and admin controls. It is built with a clean, scalable architecture and designed with real user expectations and brand identity in mind. The system is ready for a pilot and can be extended with additional features as the business grows.</a:t>
            </a:r>
          </a:p>
        </p:txBody>
      </p:sp>
    </p:spTree>
    <p:extLst>
      <p:ext uri="{BB962C8B-B14F-4D97-AF65-F5344CB8AC3E}">
        <p14:creationId xmlns:p14="http://schemas.microsoft.com/office/powerpoint/2010/main" val="215690134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4294967295"/>
          </p:nvPr>
        </p:nvSpPr>
        <p:spPr>
          <a:xfrm>
            <a:off x="2795588" y="3008313"/>
            <a:ext cx="6348412" cy="1320800"/>
          </a:xfrm>
        </p:spPr>
        <p:txBody>
          <a:bodyPr/>
          <a:lstStyle/>
          <a:p>
            <a:r>
              <a:rPr dirty="0"/>
              <a:t>Thank You 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8C59B386-999D-4CB6-B907-9F3997C027CC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31</TotalTime>
  <Words>571</Words>
  <Application>Microsoft Office PowerPoint</Application>
  <PresentationFormat>On-screen Show (4:3)</PresentationFormat>
  <Paragraphs>61</Paragraphs>
  <Slides>17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1" baseType="lpstr">
      <vt:lpstr>Arial</vt:lpstr>
      <vt:lpstr>Trebuchet MS</vt:lpstr>
      <vt:lpstr>Wingdings 3</vt:lpstr>
      <vt:lpstr>Facet</vt:lpstr>
      <vt:lpstr>Cloudimart Prototype: System Architecture and Design Decisions</vt:lpstr>
      <vt:lpstr>Introduction</vt:lpstr>
      <vt:lpstr>Technology Stack</vt:lpstr>
      <vt:lpstr>Architecture Overview</vt:lpstr>
      <vt:lpstr>Architecture Overview</vt:lpstr>
      <vt:lpstr>Core Features: MVP Scope</vt:lpstr>
      <vt:lpstr>PowerPoint Presentation</vt:lpstr>
      <vt:lpstr>Location Validation and How It Works</vt:lpstr>
      <vt:lpstr>PowerPoint Presentation</vt:lpstr>
      <vt:lpstr>Checkout Flow with Location Validation</vt:lpstr>
      <vt:lpstr>PowerPoint Presentation</vt:lpstr>
      <vt:lpstr>Database Design</vt:lpstr>
      <vt:lpstr>PowerPoint Presentation</vt:lpstr>
      <vt:lpstr>Key Design Decisions</vt:lpstr>
      <vt:lpstr>Info‑Driven Design</vt:lpstr>
      <vt:lpstr>Conclusion</vt:lpstr>
      <vt:lpstr>Thank You </vt:lpstr>
    </vt:vector>
  </TitlesOfParts>
  <Manager/>
  <Company/>
  <LinksUpToDate>false</LinksUpToDate>
  <SharedDoc>false</SharedDoc>
  <HyperlinkBase/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Cloudimart: System Architecture &amp; Design Decisions</dc:title>
  <dc:subject/>
  <dc:creator/>
  <cp:keywords/>
  <dc:description>generated using python-pptx</dc:description>
  <cp:lastModifiedBy>Microsoft account</cp:lastModifiedBy>
  <cp:revision>23</cp:revision>
  <dcterms:created xsi:type="dcterms:W3CDTF">2013-01-27T09:14:16Z</dcterms:created>
  <dcterms:modified xsi:type="dcterms:W3CDTF">2026-02-21T06:56:58Z</dcterms:modified>
  <cp:category/>
</cp:coreProperties>
</file>